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E7C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Bug/Error</c:v>
                </c:pt>
                <c:pt idx="1">
                  <c:v>Feature Req.</c:v>
                </c:pt>
                <c:pt idx="2">
                  <c:v>Shipping</c:v>
                </c:pt>
                <c:pt idx="3">
                  <c:v>Login/Access</c:v>
                </c:pt>
                <c:pt idx="4">
                  <c:v>Billing</c:v>
                </c:pt>
                <c:pt idx="5">
                  <c:v>General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1548</c:v>
                </c:pt>
                <c:pt idx="1">
                  <c:v>1363</c:v>
                </c:pt>
                <c:pt idx="2">
                  <c:v>1317</c:v>
                </c:pt>
                <c:pt idx="3">
                  <c:v>1317</c:v>
                </c:pt>
                <c:pt idx="4">
                  <c:v>1296</c:v>
                </c:pt>
                <c:pt idx="5">
                  <c:v>1159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A-4494-9FB0-333F2EEFC9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97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Support-Ticket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Pipeline · LLM Auto-Tagging · RAG-Powered API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3200400"/>
            <a:ext cx="1463040" cy="548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 </a:t>
            </a: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 support tickets · Delta Lake medallion architecture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 </a:t>
            </a: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Gold, orchestrated as a scheduled job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Serving:  </a:t>
            </a:r>
            <a:r>
              <a:rPr lang="en-US" sz="125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API with API-key auth + RAG question answering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525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on Databricks + Google Gemini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OPPORTUNITY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212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7190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volume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0482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tickets arrive as free text with no consistent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5212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13232" y="2816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31455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Categorising, prioritising, and routing by hand is slow and inconsistent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5212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822192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391363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fast answers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can't quickly ask 'what are customers complaining about?'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919472"/>
            <a:ext cx="52120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4919472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3232" y="5010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Buried insight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53400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in category, urgency, and sentiment stay hidden in the raw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1627632"/>
            <a:ext cx="54864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72200" y="1627632"/>
            <a:ext cx="91440" cy="969264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82512" y="17190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204825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lakehouse ingests, cleans, and LLM-tags every ticket automatically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724912"/>
            <a:ext cx="54864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2724912"/>
            <a:ext cx="91440" cy="969264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82512" y="28163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intelligence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31455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ticket gets a category, urgency, and sentiment in strict JSON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822192"/>
            <a:ext cx="54864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72200" y="3822192"/>
            <a:ext cx="91440" cy="969264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82512" y="39136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Analytics-ready tables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82512" y="42428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aggregates answer business questions at a glance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919472"/>
            <a:ext cx="54864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72200" y="4919472"/>
            <a:ext cx="91440" cy="969264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2512" y="50109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Q&amp;A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53400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RAG endpoint answers questions grounded in the actual tickets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6053328"/>
            <a:ext cx="5486400" cy="566928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55080" y="605332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raw tickets become categorised, prioritised, queryable intelligence.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" y="1325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26060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" y="3886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" y="51663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1207008"/>
            <a:ext cx="106984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7D0D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80160" y="12435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LAKEHOUSE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17320" y="1554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7F4EC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508760" y="16642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Tickets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19659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 ingested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0" y="1901952"/>
            <a:ext cx="502920" cy="310896"/>
          </a:xfrm>
          <a:prstGeom prst="rightArrow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4EEE9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9659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· raw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05272" y="2487168"/>
            <a:ext cx="310896" cy="457200"/>
          </a:xfrm>
          <a:prstGeom prst="downArrow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30632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4EEE9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31729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474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dedup · typed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86600" y="3410712"/>
            <a:ext cx="502920" cy="310896"/>
          </a:xfrm>
          <a:prstGeom prst="rightArrow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680960" y="30632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7E6D6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72400" y="3172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Auto-Tagging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3474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· urgency · sentiment → 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60920" y="2011680"/>
            <a:ext cx="310896" cy="960120"/>
          </a:xfrm>
          <a:prstGeom prst="upArrow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68096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EDE7F5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772400" y="166420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1965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analytics-ready aggregate tables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17320" y="40416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as a scheduled Databricks Job  (Bronze → Silver → Tagging → Gold)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18320" y="4407408"/>
            <a:ext cx="310896" cy="384048"/>
          </a:xfrm>
          <a:prstGeom prst="downArrow">
            <a:avLst/>
          </a:prstGeom>
          <a:solidFill>
            <a:srgbClr val="E8751A"/>
          </a:solidFill>
          <a:ln w="12700">
            <a:solidFill>
              <a:srgbClr val="E875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143000" y="4864608"/>
            <a:ext cx="10698480" cy="1600200"/>
          </a:xfrm>
          <a:prstGeom prst="roundRect">
            <a:avLst>
              <a:gd name="adj" fmla="val 342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2588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17320" y="528523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22314D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508760" y="53949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API-Key Auth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508760" y="5687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every analytics endpoint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528523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22314D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20640" y="53949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Endpoints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120640" y="5687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· search · ticket lookup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49640" y="528523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22314D"/>
          </a:solidFill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641080" y="53949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Q&amp;A  /ask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641080" y="5687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4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tickets → Gemini answer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PIPELINE — MEDALLION LAYERS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57600" cy="914400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54480" y="1499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Ingestion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 tickets landed as-is into Delta Lake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body, channel, priority, timestamp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messiness: duplicates + nulls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immutable source of truth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657600" cy="914400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26280" y="14813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94960" y="1499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949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Typed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246888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 on ticket ID (0 remaining)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empty / unusable rows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priority casing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text timestamps into real datetimes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83880" y="1371600"/>
            <a:ext cx="3657600" cy="914400"/>
          </a:xfrm>
          <a:prstGeom prst="rect">
            <a:avLst/>
          </a:prstGeom>
          <a:solidFill>
            <a:srgbClr val="6E5A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66760" y="148132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35440" y="1499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54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Analytics-Ready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2468880"/>
            <a:ext cx="32004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summary with % of total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ticket volume split by urgency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× urgency priority matrix</a:t>
            </a:r>
            <a:endParaRPr lang="en-US" sz="1150" dirty="0"/>
          </a:p>
          <a:p>
            <a:pPr marL="177800" indent="-177800" algn="l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straight into dashboards or the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layers built on Delta Lake with Apache Spark — the standard medallion architecture used in production lakehouses.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on Databricks and Google Gemini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611880" cy="457200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&amp; COMPUTE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7568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(Free Edition)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/ PySpark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tables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3611880" cy="457200"/>
          </a:xfrm>
          <a:prstGeom prst="rect">
            <a:avLst/>
          </a:prstGeom>
          <a:solidFill>
            <a:srgbClr val="6E5A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07568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Jobs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4-task scheduled DAG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dependencies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→ Silver → Tag → Gold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3611880" cy="457200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21040" y="1508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&amp;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207568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foundation model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(via ai_query)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(RAG)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google-genai SDK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45720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49884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ASGI server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auto-docs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393192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611880" cy="457200"/>
          </a:xfrm>
          <a:prstGeom prst="rect">
            <a:avLst/>
          </a:prstGeom>
          <a:solidFill>
            <a:srgbClr val="0B5E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80560" y="3931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449884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Gold export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python-dotenv (secrets)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API-key authentication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3931920"/>
            <a:ext cx="3611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83880" y="3931920"/>
            <a:ext cx="3611880" cy="457200"/>
          </a:xfrm>
          <a:prstGeom prst="rect">
            <a:avLst/>
          </a:prstGeom>
          <a:solidFill>
            <a:srgbClr val="8A5A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21040" y="3931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4498848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logging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+ timing logs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+ console handlers</a:t>
            </a:r>
            <a:endParaRPr lang="en-US" sz="11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api.log output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AUTO-TAGGING INTO STRUCTURED JSON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943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8562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Schema-locked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0253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instructed to return ONLY a JSON object with fixed fields — no prose, no markdown.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5943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73405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tagging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04495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ticket is tagged in one Spark-native pass, not one slow call at a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5943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0080" y="3941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77647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parsing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08736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parser strips code fences and validates the JSON, with a safe fallback for any bad output.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727448"/>
            <a:ext cx="59436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983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81888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512978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rules corrected an early bias where urgency skewed 'high' — improving the distribution.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66560" y="1207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1572768"/>
            <a:ext cx="4892040" cy="2084832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67728" y="170078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Ticket:  "I was charged twice this month"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084832"/>
            <a:ext cx="457200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 "Billing",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"urgency":   "high",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"negative"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3913632"/>
            <a:ext cx="15727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766560" y="3913632"/>
            <a:ext cx="1572768" cy="82296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766560" y="40965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858000" y="466344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tagged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430768" y="3913632"/>
            <a:ext cx="15727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430768" y="3913632"/>
            <a:ext cx="1572768" cy="82296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430768" y="40965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522208" y="466344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parse success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094976" y="3913632"/>
            <a:ext cx="157276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094976" y="3913632"/>
            <a:ext cx="1572768" cy="82296"/>
          </a:xfrm>
          <a:prstGeom prst="rect">
            <a:avLst/>
          </a:prstGeom>
          <a:solidFill>
            <a:srgbClr val="6E5A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094976" y="4096512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E5A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fields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0186416" y="466344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ticket, structured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66560" y="5349240"/>
            <a:ext cx="4892040" cy="1005840"/>
          </a:xfrm>
          <a:prstGeom prst="rect">
            <a:avLst/>
          </a:prstGeom>
          <a:solidFill>
            <a:srgbClr val="FBF6EE"/>
          </a:solidFill>
          <a:ln w="12700">
            <a:solidFill>
              <a:srgbClr val="E7D9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49440" y="5394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classification was strong and evenly distributed. </a:t>
            </a:r>
            <a:r>
              <a:rPr lang="en-US" sz="10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skewed high — a limitation of the smaller model, documented and improvable with a larger endpoint.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FROM THE GOLD LAYER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BY CATEGORY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600200"/>
          <a:ext cx="59436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207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SAYS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1600200"/>
            <a:ext cx="48920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766560" y="1600200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967728" y="16916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reports lead volume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67728" y="20025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~19% of all tickets, product bugs are the single biggest support driver.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66560" y="2697480"/>
            <a:ext cx="48920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766560" y="2697480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967728" y="27889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demand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67728" y="30998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requests, shipping, and access issues each sit near 16–17% — no blind spots.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66560" y="3794760"/>
            <a:ext cx="48920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766560" y="3794760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967728" y="3886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coverage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67728" y="41970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categories are well represented, confirming the classifier discriminates cleanly.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66560" y="4892040"/>
            <a:ext cx="48920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766560" y="4892040"/>
            <a:ext cx="91440" cy="96926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967728" y="49834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67728" y="52943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tables answer 'where should the team focus?' without touching raw text.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API — SECURED + RAG QUESTION ANSWERING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/stats/*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0208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urgency &amp; sentiment breakdowns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51176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26243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/tickets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+ category search over all tickets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502152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357530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/tickets/{id}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9227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any single ticket by 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453128"/>
            <a:ext cx="5669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452628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48737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question answering (see right)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440680"/>
            <a:ext cx="5669280" cy="86868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5440680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API-key auth:  </a:t>
            </a:r>
            <a:r>
              <a:rPr lang="en-US" sz="1100" dirty="0">
                <a:solidFill>
                  <a:srgbClr val="E6E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endpoints require an X-API-Key header — verified blocked without it, allowed with 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1207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RAG ANSWERS A QUESTION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5166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92240" y="1600200"/>
            <a:ext cx="1371600" cy="786384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92240" y="1600200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1600200"/>
            <a:ext cx="3520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tickets most relevant to the question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9680" y="2395728"/>
            <a:ext cx="256032" cy="146304"/>
          </a:xfrm>
          <a:prstGeom prst="down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92240" y="2532888"/>
            <a:ext cx="5166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92240" y="2532888"/>
            <a:ext cx="1371600" cy="786384"/>
          </a:xfrm>
          <a:prstGeom prst="rect">
            <a:avLst/>
          </a:prstGeom>
          <a:solidFill>
            <a:srgbClr val="6E5A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0" y="2532888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2532888"/>
            <a:ext cx="3520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prompt from those retrieved tickets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328416"/>
            <a:ext cx="256032" cy="146304"/>
          </a:xfrm>
          <a:prstGeom prst="down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92240" y="3465576"/>
            <a:ext cx="5166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92240" y="3465576"/>
            <a:ext cx="1371600" cy="786384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3465576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01000" y="3465576"/>
            <a:ext cx="3520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answers using ONLY that context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69680" y="4261104"/>
            <a:ext cx="256032" cy="146304"/>
          </a:xfrm>
          <a:prstGeom prst="down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92240" y="4398264"/>
            <a:ext cx="5166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9AA3B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92240" y="4398264"/>
            <a:ext cx="1371600" cy="786384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92240" y="4398264"/>
            <a:ext cx="1371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01000" y="4398264"/>
            <a:ext cx="3520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source ticket IDs with the answer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5440680"/>
            <a:ext cx="5166360" cy="868680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75120" y="5440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grounded in real tickets and traceable to its sources — no hallucination.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0"/>
            <a:ext cx="1118585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KEY OUTCOMES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97480" cy="91440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75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ingested &amp; tagged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97480" cy="91440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parse success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2697480" cy="91440"/>
          </a:xfrm>
          <a:prstGeom prst="rect">
            <a:avLst/>
          </a:prstGeom>
          <a:solidFill>
            <a:srgbClr val="6E5A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E5A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4-task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pipeline DAG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12344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006840" y="1234440"/>
            <a:ext cx="2697480" cy="91440"/>
          </a:xfrm>
          <a:prstGeom prst="rect">
            <a:avLst/>
          </a:prstGeom>
          <a:solidFill>
            <a:srgbClr val="1B2A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06840" y="1417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9828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0E7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DELIVERED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577840" cy="402336"/>
          </a:xfrm>
          <a:prstGeom prst="rect">
            <a:avLst/>
          </a:prstGeom>
          <a:solidFill>
            <a:srgbClr val="0E7C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" y="3429000"/>
            <a:ext cx="5321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" y="3922776"/>
            <a:ext cx="528523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Delta Lake pipeline (Bronze → Silver → Gold) on Apache Spark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auto-tagging of every ticket into strict, validated JSON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Orchestrated, scheduled Databricks Job running the full pipeline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service with API-key auth and auto-generated docs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Q&amp;A endpoint that answers questions and cites source tickets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request logging and observability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87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NEXT STEPS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429000"/>
            <a:ext cx="5257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9AA3B0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00800" y="3429000"/>
            <a:ext cx="5257800" cy="402336"/>
          </a:xfrm>
          <a:prstGeom prst="rect">
            <a:avLst/>
          </a:prstGeom>
          <a:solidFill>
            <a:srgbClr val="E87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28816" y="3429000"/>
            <a:ext cx="5001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47104" y="3922776"/>
            <a:ext cx="496519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keyword retrieval for embedding-based semantic search</a:t>
            </a:r>
            <a:endParaRPr lang="en-US" sz="12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the tagging model to sharpen urgency &amp; sentiment</a:t>
            </a:r>
            <a:endParaRPr lang="en-US" sz="12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live dashboard on top of the Gold tables</a:t>
            </a:r>
            <a:endParaRPr lang="en-US" sz="12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API directly to the Delta tables (vs. CSV export)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</Words>
  <Application>Microsoft Office PowerPoint</Application>
  <PresentationFormat>Widescreen</PresentationFormat>
  <Paragraphs>198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elangovan</cp:lastModifiedBy>
  <cp:revision>2</cp:revision>
  <dcterms:created xsi:type="dcterms:W3CDTF">2026-08-11T04:01:12Z</dcterms:created>
  <dcterms:modified xsi:type="dcterms:W3CDTF">2026-08-11T04:06:10Z</dcterms:modified>
</cp:coreProperties>
</file>